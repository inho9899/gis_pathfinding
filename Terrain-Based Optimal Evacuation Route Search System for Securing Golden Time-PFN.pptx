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hyperlink" Target="https://www.data.go.kr/)%EC%97%90%EC%84%9C"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14363" y="1645444"/>
            <a:ext cx="5715000" cy="1857375"/>
          </a:xfrm>
          <a:prstGeom prst="rect">
            <a:avLst/>
          </a:prstGeom>
          <a:noFill/>
          <a:ln/>
        </p:spPr>
      </p:sp>
      <p:pic>
        <p:nvPicPr>
          <p:cNvPr id="3" name="Image 0" descr="preencoded.png">    </p:cNvPr>
          <p:cNvPicPr>
            <a:picLocks noChangeAspect="1"/>
          </p:cNvPicPr>
          <p:nvPr/>
        </p:nvPicPr>
        <p:blipFill>
          <a:blip r:embed="rId1"/>
          <a:stretch>
            <a:fillRect/>
          </a:stretch>
        </p:blipFill>
        <p:spPr>
          <a:xfrm>
            <a:off x="3686175" y="2771775"/>
            <a:ext cx="476250" cy="476250"/>
          </a:xfrm>
          <a:prstGeom prst="rect">
            <a:avLst/>
          </a:prstGeom>
        </p:spPr>
      </p:pic>
      <p:sp>
        <p:nvSpPr>
          <p:cNvPr id="4" name="Text 1"/>
          <p:cNvSpPr/>
          <p:nvPr/>
        </p:nvSpPr>
        <p:spPr>
          <a:xfrm>
            <a:off x="614363" y="1645444"/>
            <a:ext cx="6172200" cy="1028700"/>
          </a:xfrm>
          <a:prstGeom prst="rect">
            <a:avLst/>
          </a:prstGeom>
          <a:noFill/>
          <a:ln/>
        </p:spPr>
        <p:txBody>
          <a:bodyPr wrap="square" rtlCol="0" anchor="ctr"/>
          <a:lstStyle/>
          <a:p>
            <a:pPr algn="l" indent="0" marL="0">
              <a:lnSpc>
                <a:spcPts val="2700"/>
              </a:lnSpc>
              <a:buNone/>
            </a:pPr>
            <a:r>
              <a:rPr lang="en-US" sz="2250" b="1" spc="-50" kern="0" dirty="0">
                <a:solidFill>
                  <a:srgbClr val="FFFFFF">
                    <a:alpha val="99000"/>
                  </a:srgbClr>
                </a:solidFill>
                <a:latin typeface="Inter" pitchFamily="34" charset="0"/>
                <a:ea typeface="Inter" pitchFamily="34" charset="-122"/>
                <a:cs typeface="Inter" pitchFamily="34" charset="-120"/>
              </a:rPr>
              <a:t>Terrain-Based Optimal Evacuation Route Search System for Securing the Golden Time</a:t>
            </a:r>
            <a:endParaRPr lang="en-US" sz="2250" dirty="0"/>
          </a:p>
        </p:txBody>
      </p:sp>
      <p:sp>
        <p:nvSpPr>
          <p:cNvPr id="5" name="Text 2"/>
          <p:cNvSpPr/>
          <p:nvPr/>
        </p:nvSpPr>
        <p:spPr>
          <a:xfrm>
            <a:off x="614363" y="2788444"/>
            <a:ext cx="6172200" cy="714375"/>
          </a:xfrm>
          <a:prstGeom prst="rect">
            <a:avLst/>
          </a:prstGeom>
          <a:noFill/>
          <a:ln/>
        </p:spPr>
        <p:txBody>
          <a:bodyPr wrap="square" rtlCol="0" anchor="ctr"/>
          <a:lstStyle/>
          <a:p>
            <a:pPr algn="l" indent="0" marL="0">
              <a:lnSpc>
                <a:spcPts val="1890"/>
              </a:lnSpc>
              <a:buNone/>
            </a:pPr>
            <a:r>
              <a:rPr lang="en-US" sz="1350" spc="-13" kern="0" dirty="0">
                <a:solidFill>
                  <a:srgbClr val="FFFFFF">
                    <a:alpha val="99000"/>
                  </a:srgbClr>
                </a:solidFill>
                <a:latin typeface="Inter" pitchFamily="34" charset="0"/>
                <a:ea typeface="Inter" pitchFamily="34" charset="-122"/>
                <a:cs typeface="Inter" pitchFamily="34" charset="-120"/>
              </a:rPr>
              <a:t>20190605 Inho Jung</a:t>
            </a:r>
            <a:endParaRPr lang="en-US" sz="1350" dirty="0"/>
          </a:p>
          <a:p>
            <a:pPr algn="l" indent="0" marL="0">
              <a:lnSpc>
                <a:spcPts val="1890"/>
              </a:lnSpc>
              <a:buNone/>
            </a:pPr>
            <a:r>
              <a:rPr lang="en-US" sz="1350" spc="-13" kern="0" dirty="0">
                <a:solidFill>
                  <a:srgbClr val="FFFFFF">
                    <a:alpha val="99000"/>
                  </a:srgbClr>
                </a:solidFill>
                <a:latin typeface="Inter" pitchFamily="34" charset="0"/>
                <a:ea typeface="Inter" pitchFamily="34" charset="-122"/>
                <a:cs typeface="Inter" pitchFamily="34" charset="-120"/>
              </a:rPr>
              <a:t>20230350 Younwoo Sung</a:t>
            </a:r>
            <a:endParaRPr lang="en-US" sz="1350" dirty="0"/>
          </a:p>
          <a:p>
            <a:pPr algn="l" indent="0" marL="0">
              <a:lnSpc>
                <a:spcPts val="1890"/>
              </a:lnSpc>
              <a:buNone/>
            </a:pPr>
            <a:r>
              <a:rPr lang="en-US" sz="1350" spc="-13" kern="0" dirty="0">
                <a:solidFill>
                  <a:srgbClr val="FFFFFF">
                    <a:alpha val="99000"/>
                  </a:srgbClr>
                </a:solidFill>
                <a:latin typeface="Inter" pitchFamily="34" charset="0"/>
                <a:ea typeface="Inter" pitchFamily="34" charset="-122"/>
                <a:cs typeface="Inter" pitchFamily="34" charset="-120"/>
              </a:rPr>
              <a:t>20250143 Sugi Kim</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495300" y="3667125"/>
            <a:ext cx="3471863" cy="609600"/>
          </a:xfrm>
          <a:prstGeom prst="rect">
            <a:avLst/>
          </a:prstGeom>
          <a:noFill/>
          <a:ln/>
        </p:spPr>
      </p:sp>
      <p:sp>
        <p:nvSpPr>
          <p:cNvPr id="3" name="Shape 1"/>
          <p:cNvSpPr/>
          <p:nvPr/>
        </p:nvSpPr>
        <p:spPr>
          <a:xfrm>
            <a:off x="4324350" y="3667125"/>
            <a:ext cx="4438650" cy="457200"/>
          </a:xfrm>
          <a:prstGeom prst="rect">
            <a:avLst/>
          </a:prstGeom>
          <a:noFill/>
          <a:ln/>
        </p:spPr>
      </p:sp>
      <p:pic>
        <p:nvPicPr>
          <p:cNvPr id="4" name="Image 0" descr="preencoded.png">    </p:cNvPr>
          <p:cNvPicPr>
            <a:picLocks noChangeAspect="1"/>
          </p:cNvPicPr>
          <p:nvPr/>
        </p:nvPicPr>
        <p:blipFill>
          <a:blip r:embed="rId1"/>
          <a:stretch>
            <a:fillRect/>
          </a:stretch>
        </p:blipFill>
        <p:spPr>
          <a:xfrm>
            <a:off x="495300" y="1857375"/>
            <a:ext cx="3471863" cy="1809750"/>
          </a:xfrm>
          <a:prstGeom prst="rect">
            <a:avLst/>
          </a:prstGeom>
        </p:spPr>
      </p:pic>
      <p:pic>
        <p:nvPicPr>
          <p:cNvPr id="5" name="Image 1" descr="preencoded.png">    </p:cNvPr>
          <p:cNvPicPr>
            <a:picLocks noChangeAspect="1"/>
          </p:cNvPicPr>
          <p:nvPr/>
        </p:nvPicPr>
        <p:blipFill>
          <a:blip r:embed="rId2"/>
          <a:stretch>
            <a:fillRect/>
          </a:stretch>
        </p:blipFill>
        <p:spPr>
          <a:xfrm>
            <a:off x="4324350" y="1857375"/>
            <a:ext cx="4462463" cy="1809750"/>
          </a:xfrm>
          <a:prstGeom prst="rect">
            <a:avLst/>
          </a:prstGeom>
        </p:spPr>
      </p:pic>
      <p:sp>
        <p:nvSpPr>
          <p:cNvPr id="6" name="Text 2"/>
          <p:cNvSpPr/>
          <p:nvPr/>
        </p:nvSpPr>
        <p:spPr>
          <a:xfrm>
            <a:off x="495300" y="347663"/>
            <a:ext cx="8110537" cy="547688"/>
          </a:xfrm>
          <a:prstGeom prst="rect">
            <a:avLst/>
          </a:prstGeom>
          <a:noFill/>
          <a:ln/>
        </p:spPr>
        <p:txBody>
          <a:bodyPr wrap="square" rtlCol="0" anchor="ctr"/>
          <a:lstStyle/>
          <a:p>
            <a:pPr algn="l"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Introduction</a:t>
            </a:r>
            <a:endParaRPr lang="en-US" sz="3600" dirty="0"/>
          </a:p>
        </p:txBody>
      </p:sp>
      <p:sp>
        <p:nvSpPr>
          <p:cNvPr id="7" name="Text 3"/>
          <p:cNvSpPr/>
          <p:nvPr/>
        </p:nvSpPr>
        <p:spPr>
          <a:xfrm>
            <a:off x="4324350" y="3667125"/>
            <a:ext cx="4895850" cy="457200"/>
          </a:xfrm>
          <a:prstGeom prst="rect">
            <a:avLst/>
          </a:prstGeom>
          <a:noFill/>
          <a:ln/>
        </p:spPr>
        <p:txBody>
          <a:bodyPr wrap="square" rtlCol="0" anchor="ctr"/>
          <a:lstStyle/>
          <a:p>
            <a:pPr algn="l" indent="0" marL="0">
              <a:lnSpc>
                <a:spcPts val="1809"/>
              </a:lnSpc>
              <a:buNone/>
            </a:pPr>
            <a:r>
              <a:rPr lang="en-US" sz="1350" b="1" spc="-7" kern="0" dirty="0">
                <a:solidFill>
                  <a:srgbClr val="FFFFFF">
                    <a:alpha val="99000"/>
                  </a:srgbClr>
                </a:solidFill>
                <a:latin typeface="Inter" pitchFamily="34" charset="0"/>
                <a:ea typeface="Inter" pitchFamily="34" charset="-122"/>
                <a:cs typeface="Inter" pitchFamily="34" charset="-120"/>
              </a:rPr>
              <a:t>Mortality rate over transport time when the degree of injury varies</a:t>
            </a:r>
            <a:endParaRPr lang="en-US" sz="1350" dirty="0"/>
          </a:p>
        </p:txBody>
      </p:sp>
      <p:sp>
        <p:nvSpPr>
          <p:cNvPr id="8" name="Text 4"/>
          <p:cNvSpPr/>
          <p:nvPr/>
        </p:nvSpPr>
        <p:spPr>
          <a:xfrm>
            <a:off x="495300" y="3667125"/>
            <a:ext cx="3929063" cy="457200"/>
          </a:xfrm>
          <a:prstGeom prst="rect">
            <a:avLst/>
          </a:prstGeom>
          <a:noFill/>
          <a:ln/>
        </p:spPr>
        <p:txBody>
          <a:bodyPr wrap="square" rtlCol="0" anchor="ctr"/>
          <a:lstStyle/>
          <a:p>
            <a:pPr algn="l" indent="0" marL="0">
              <a:lnSpc>
                <a:spcPts val="1809"/>
              </a:lnSpc>
              <a:buNone/>
            </a:pPr>
            <a:r>
              <a:rPr lang="en-US" sz="1350" b="1" spc="-7" kern="0" dirty="0">
                <a:solidFill>
                  <a:srgbClr val="FFFFFF">
                    <a:alpha val="99000"/>
                  </a:srgbClr>
                </a:solidFill>
                <a:latin typeface="Inter" pitchFamily="34" charset="0"/>
                <a:ea typeface="Inter" pitchFamily="34" charset="-122"/>
                <a:cs typeface="Inter" pitchFamily="34" charset="-120"/>
              </a:rPr>
              <a:t>Mortality rate decreases with shorter transit times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09600" y="3652838"/>
            <a:ext cx="3810000" cy="609600"/>
          </a:xfrm>
          <a:prstGeom prst="rect">
            <a:avLst/>
          </a:prstGeom>
          <a:noFill/>
          <a:ln/>
        </p:spPr>
      </p:sp>
      <p:sp>
        <p:nvSpPr>
          <p:cNvPr id="3" name="Shape 1"/>
          <p:cNvSpPr/>
          <p:nvPr/>
        </p:nvSpPr>
        <p:spPr>
          <a:xfrm>
            <a:off x="4724400" y="3652838"/>
            <a:ext cx="3810000" cy="457200"/>
          </a:xfrm>
          <a:prstGeom prst="rect">
            <a:avLst/>
          </a:prstGeom>
          <a:noFill/>
          <a:ln/>
        </p:spPr>
      </p:sp>
      <p:pic>
        <p:nvPicPr>
          <p:cNvPr id="4" name="Image 0" descr="preencoded.png">    </p:cNvPr>
          <p:cNvPicPr>
            <a:picLocks noChangeAspect="1"/>
          </p:cNvPicPr>
          <p:nvPr/>
        </p:nvPicPr>
        <p:blipFill>
          <a:blip r:embed="rId1"/>
          <a:stretch>
            <a:fillRect/>
          </a:stretch>
        </p:blipFill>
        <p:spPr>
          <a:xfrm>
            <a:off x="609600" y="1309688"/>
            <a:ext cx="3810000" cy="2152650"/>
          </a:xfrm>
          <a:prstGeom prst="rect">
            <a:avLst/>
          </a:prstGeom>
        </p:spPr>
      </p:pic>
      <p:pic>
        <p:nvPicPr>
          <p:cNvPr id="5" name="Image 1" descr="preencoded.png">    </p:cNvPr>
          <p:cNvPicPr>
            <a:picLocks noChangeAspect="1"/>
          </p:cNvPicPr>
          <p:nvPr/>
        </p:nvPicPr>
        <p:blipFill>
          <a:blip r:embed="rId2"/>
          <a:stretch>
            <a:fillRect/>
          </a:stretch>
        </p:blipFill>
        <p:spPr>
          <a:xfrm>
            <a:off x="4724400" y="1309688"/>
            <a:ext cx="3810000" cy="2152650"/>
          </a:xfrm>
          <a:prstGeom prst="rect">
            <a:avLst/>
          </a:prstGeom>
        </p:spPr>
      </p:pic>
      <p:sp>
        <p:nvSpPr>
          <p:cNvPr id="6" name="Text 2"/>
          <p:cNvSpPr/>
          <p:nvPr/>
        </p:nvSpPr>
        <p:spPr>
          <a:xfrm>
            <a:off x="609600" y="609600"/>
            <a:ext cx="80010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Technology Research for Shapefile Extraction</a:t>
            </a:r>
            <a:endParaRPr lang="en-US" sz="1800" dirty="0"/>
          </a:p>
        </p:txBody>
      </p:sp>
      <p:sp>
        <p:nvSpPr>
          <p:cNvPr id="7" name="Text 3"/>
          <p:cNvSpPr/>
          <p:nvPr/>
        </p:nvSpPr>
        <p:spPr>
          <a:xfrm>
            <a:off x="4724400" y="3652838"/>
            <a:ext cx="4267200"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SuperResoltuion - Real-ESRGAN</a:t>
            </a:r>
            <a:endParaRPr lang="en-US" sz="1350" dirty="0"/>
          </a:p>
        </p:txBody>
      </p:sp>
      <p:sp>
        <p:nvSpPr>
          <p:cNvPr id="8" name="Text 4"/>
          <p:cNvSpPr/>
          <p:nvPr/>
        </p:nvSpPr>
        <p:spPr>
          <a:xfrm>
            <a:off x="4724400" y="3957638"/>
            <a:ext cx="4267200" cy="152400"/>
          </a:xfrm>
          <a:prstGeom prst="rect">
            <a:avLst/>
          </a:prstGeom>
          <a:noFill/>
          <a:ln/>
        </p:spPr>
        <p:txBody>
          <a:bodyPr wrap="square" rtlCol="0" anchor="ct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Keep ‘em short and sweet, so they’re easy to scan and remember. </a:t>
            </a:r>
            <a:endParaRPr lang="en-US" sz="900" dirty="0"/>
          </a:p>
        </p:txBody>
      </p:sp>
      <p:sp>
        <p:nvSpPr>
          <p:cNvPr id="9" name="Text 5"/>
          <p:cNvSpPr/>
          <p:nvPr/>
        </p:nvSpPr>
        <p:spPr>
          <a:xfrm>
            <a:off x="609600" y="3652838"/>
            <a:ext cx="4267200"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Segmentation - Object Detection</a:t>
            </a:r>
            <a:endParaRPr lang="en-US" sz="1350" dirty="0"/>
          </a:p>
        </p:txBody>
      </p:sp>
      <p:sp>
        <p:nvSpPr>
          <p:cNvPr id="10" name="Text 6"/>
          <p:cNvSpPr/>
          <p:nvPr/>
        </p:nvSpPr>
        <p:spPr>
          <a:xfrm>
            <a:off x="609600" y="3957638"/>
            <a:ext cx="4267200" cy="304800"/>
          </a:xfrm>
          <a:prstGeom prst="rect">
            <a:avLst/>
          </a:prstGeom>
          <a:noFill/>
          <a:ln/>
        </p:spPr>
        <p:txBody>
          <a:bodyPr wrap="square" rtlCol="0" anchor="ct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Add a quick description of each thing, with enough context to understand what’s up.</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609600" y="3652838"/>
            <a:ext cx="3810000" cy="609600"/>
          </a:xfrm>
          <a:prstGeom prst="rect">
            <a:avLst/>
          </a:prstGeom>
          <a:noFill/>
          <a:ln/>
        </p:spPr>
      </p:sp>
      <p:sp>
        <p:nvSpPr>
          <p:cNvPr id="3" name="Shape 1"/>
          <p:cNvSpPr/>
          <p:nvPr/>
        </p:nvSpPr>
        <p:spPr>
          <a:xfrm>
            <a:off x="4724400" y="3652838"/>
            <a:ext cx="3810000" cy="457200"/>
          </a:xfrm>
          <a:prstGeom prst="rect">
            <a:avLst/>
          </a:prstGeom>
          <a:noFill/>
          <a:ln/>
        </p:spPr>
      </p:sp>
      <p:pic>
        <p:nvPicPr>
          <p:cNvPr id="4" name="Image 0" descr="preencoded.png">    </p:cNvPr>
          <p:cNvPicPr>
            <a:picLocks noChangeAspect="1"/>
          </p:cNvPicPr>
          <p:nvPr/>
        </p:nvPicPr>
        <p:blipFill>
          <a:blip r:embed="rId1"/>
          <a:stretch>
            <a:fillRect/>
          </a:stretch>
        </p:blipFill>
        <p:spPr>
          <a:xfrm>
            <a:off x="609600" y="1309688"/>
            <a:ext cx="3810000" cy="2152650"/>
          </a:xfrm>
          <a:prstGeom prst="rect">
            <a:avLst/>
          </a:prstGeom>
        </p:spPr>
      </p:pic>
      <p:pic>
        <p:nvPicPr>
          <p:cNvPr id="5" name="Image 1" descr="preencoded.png">    </p:cNvPr>
          <p:cNvPicPr>
            <a:picLocks noChangeAspect="1"/>
          </p:cNvPicPr>
          <p:nvPr/>
        </p:nvPicPr>
        <p:blipFill>
          <a:blip r:embed="rId2"/>
          <a:stretch>
            <a:fillRect/>
          </a:stretch>
        </p:blipFill>
        <p:spPr>
          <a:xfrm>
            <a:off x="4724400" y="1309688"/>
            <a:ext cx="3810000" cy="2152650"/>
          </a:xfrm>
          <a:prstGeom prst="rect">
            <a:avLst/>
          </a:prstGeom>
        </p:spPr>
      </p:pic>
      <p:sp>
        <p:nvSpPr>
          <p:cNvPr id="6" name="Text 2"/>
          <p:cNvSpPr/>
          <p:nvPr/>
        </p:nvSpPr>
        <p:spPr>
          <a:xfrm>
            <a:off x="609600" y="609600"/>
            <a:ext cx="80010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Technology Research for PathFinding</a:t>
            </a:r>
            <a:endParaRPr lang="en-US" sz="1800" dirty="0"/>
          </a:p>
        </p:txBody>
      </p:sp>
      <p:sp>
        <p:nvSpPr>
          <p:cNvPr id="7" name="Text 3"/>
          <p:cNvSpPr/>
          <p:nvPr/>
        </p:nvSpPr>
        <p:spPr>
          <a:xfrm>
            <a:off x="4724400" y="3652838"/>
            <a:ext cx="4267200"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Shortest Path Search - A* Algorithm</a:t>
            </a:r>
            <a:endParaRPr lang="en-US" sz="1350" dirty="0"/>
          </a:p>
        </p:txBody>
      </p:sp>
      <p:sp>
        <p:nvSpPr>
          <p:cNvPr id="8" name="Text 4"/>
          <p:cNvSpPr/>
          <p:nvPr/>
        </p:nvSpPr>
        <p:spPr>
          <a:xfrm>
            <a:off x="4724400" y="3957638"/>
            <a:ext cx="4267200" cy="152400"/>
          </a:xfrm>
          <a:prstGeom prst="rect">
            <a:avLst/>
          </a:prstGeom>
          <a:noFill/>
          <a:ln/>
        </p:spPr>
        <p:txBody>
          <a:bodyPr wrap="square" rtlCol="0" anchor="ct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Shortest Path Search - A* Algorithm</a:t>
            </a:r>
            <a:endParaRPr lang="en-US" sz="900" dirty="0"/>
          </a:p>
        </p:txBody>
      </p:sp>
      <p:sp>
        <p:nvSpPr>
          <p:cNvPr id="9" name="Text 5"/>
          <p:cNvSpPr/>
          <p:nvPr/>
        </p:nvSpPr>
        <p:spPr>
          <a:xfrm>
            <a:off x="609600" y="3652838"/>
            <a:ext cx="4267200" cy="228600"/>
          </a:xfrm>
          <a:prstGeom prst="rect">
            <a:avLst/>
          </a:prstGeom>
          <a:noFill/>
          <a:ln/>
        </p:spPr>
        <p:txBody>
          <a:bodyPr wrap="square" rtlCol="0" anchor="ctr"/>
          <a:lstStyle/>
          <a:p>
            <a:pPr algn="l" indent="0" marL="0">
              <a:lnSpc>
                <a:spcPts val="1782"/>
              </a:lnSpc>
              <a:buNone/>
            </a:pPr>
            <a:r>
              <a:rPr lang="en-US" sz="1350" b="1" spc="-27" kern="0" dirty="0">
                <a:solidFill>
                  <a:srgbClr val="FFFFFF">
                    <a:alpha val="99000"/>
                  </a:srgbClr>
                </a:solidFill>
                <a:latin typeface="Inter" pitchFamily="34" charset="0"/>
                <a:ea typeface="Inter" pitchFamily="34" charset="-122"/>
                <a:cs typeface="Inter" pitchFamily="34" charset="-120"/>
              </a:rPr>
              <a:t>DEM SuperResoltion - DCT Transform</a:t>
            </a:r>
            <a:endParaRPr lang="en-US" sz="1350" dirty="0"/>
          </a:p>
        </p:txBody>
      </p:sp>
      <p:sp>
        <p:nvSpPr>
          <p:cNvPr id="10" name="Text 6"/>
          <p:cNvSpPr/>
          <p:nvPr/>
        </p:nvSpPr>
        <p:spPr>
          <a:xfrm>
            <a:off x="609600" y="3957638"/>
            <a:ext cx="4267200" cy="304800"/>
          </a:xfrm>
          <a:prstGeom prst="rect">
            <a:avLst/>
          </a:prstGeom>
          <a:noFill/>
          <a:ln/>
        </p:spPr>
        <p:txBody>
          <a:bodyPr wrap="square" rtlCol="0" anchor="ctr"/>
          <a:lstStyle/>
          <a:p>
            <a:pPr algn="l" indent="0" marL="0">
              <a:lnSpc>
                <a:spcPts val="1206"/>
              </a:lnSpc>
              <a:buNone/>
            </a:pPr>
            <a:r>
              <a:rPr lang="en-US" sz="900" spc="-5" kern="0" dirty="0">
                <a:solidFill>
                  <a:srgbClr val="FFFFFF">
                    <a:alpha val="99000"/>
                  </a:srgbClr>
                </a:solidFill>
                <a:latin typeface="Inter" pitchFamily="34" charset="0"/>
                <a:ea typeface="Inter" pitchFamily="34" charset="-122"/>
                <a:cs typeface="Inter" pitchFamily="34" charset="-120"/>
              </a:rPr>
              <a:t>Add a quick description of each thing, with enough context to understand what’s up.</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0075" y="1557338"/>
            <a:ext cx="2219325" cy="1728788"/>
          </a:xfrm>
          <a:prstGeom prst="rect">
            <a:avLst/>
          </a:prstGeom>
        </p:spPr>
      </p:pic>
      <p:pic>
        <p:nvPicPr>
          <p:cNvPr id="3" name="Image 1" descr="preencoded.png">    </p:cNvPr>
          <p:cNvPicPr>
            <a:picLocks noChangeAspect="1"/>
          </p:cNvPicPr>
          <p:nvPr/>
        </p:nvPicPr>
        <p:blipFill>
          <a:blip r:embed="rId2"/>
          <a:stretch>
            <a:fillRect/>
          </a:stretch>
        </p:blipFill>
        <p:spPr>
          <a:xfrm>
            <a:off x="3119438" y="1690688"/>
            <a:ext cx="1338263" cy="704850"/>
          </a:xfrm>
          <a:prstGeom prst="rect">
            <a:avLst/>
          </a:prstGeom>
        </p:spPr>
      </p:pic>
      <p:pic>
        <p:nvPicPr>
          <p:cNvPr id="4" name="Image 2" descr="preencoded.png">    </p:cNvPr>
          <p:cNvPicPr>
            <a:picLocks noChangeAspect="1"/>
          </p:cNvPicPr>
          <p:nvPr/>
        </p:nvPicPr>
        <p:blipFill>
          <a:blip r:embed="rId3"/>
          <a:stretch>
            <a:fillRect/>
          </a:stretch>
        </p:blipFill>
        <p:spPr>
          <a:xfrm>
            <a:off x="3305175" y="2338388"/>
            <a:ext cx="971550" cy="452438"/>
          </a:xfrm>
          <a:prstGeom prst="rect">
            <a:avLst/>
          </a:prstGeom>
        </p:spPr>
      </p:pic>
      <p:pic>
        <p:nvPicPr>
          <p:cNvPr id="5" name="Image 3" descr="preencoded.png">    </p:cNvPr>
          <p:cNvPicPr>
            <a:picLocks noChangeAspect="1"/>
          </p:cNvPicPr>
          <p:nvPr/>
        </p:nvPicPr>
        <p:blipFill>
          <a:blip r:embed="rId4"/>
          <a:stretch>
            <a:fillRect/>
          </a:stretch>
        </p:blipFill>
        <p:spPr>
          <a:xfrm>
            <a:off x="4824413" y="2338388"/>
            <a:ext cx="976312" cy="452438"/>
          </a:xfrm>
          <a:prstGeom prst="rect">
            <a:avLst/>
          </a:prstGeom>
        </p:spPr>
      </p:pic>
      <p:pic>
        <p:nvPicPr>
          <p:cNvPr id="6" name="Image 4" descr="preencoded.png">    </p:cNvPr>
          <p:cNvPicPr>
            <a:picLocks noChangeAspect="1"/>
          </p:cNvPicPr>
          <p:nvPr/>
        </p:nvPicPr>
        <p:blipFill>
          <a:blip r:embed="rId5"/>
          <a:stretch>
            <a:fillRect/>
          </a:stretch>
        </p:blipFill>
        <p:spPr>
          <a:xfrm>
            <a:off x="6300788" y="1185863"/>
            <a:ext cx="1738313" cy="1100138"/>
          </a:xfrm>
          <a:prstGeom prst="rect">
            <a:avLst/>
          </a:prstGeom>
        </p:spPr>
      </p:pic>
      <p:pic>
        <p:nvPicPr>
          <p:cNvPr id="7" name="Image 5" descr="preencoded.png">    </p:cNvPr>
          <p:cNvPicPr>
            <a:picLocks noChangeAspect="1"/>
          </p:cNvPicPr>
          <p:nvPr/>
        </p:nvPicPr>
        <p:blipFill>
          <a:blip r:embed="rId6"/>
          <a:stretch>
            <a:fillRect/>
          </a:stretch>
        </p:blipFill>
        <p:spPr>
          <a:xfrm>
            <a:off x="4695825" y="1747838"/>
            <a:ext cx="1238250" cy="590550"/>
          </a:xfrm>
          <a:prstGeom prst="rect">
            <a:avLst/>
          </a:prstGeom>
        </p:spPr>
      </p:pic>
      <p:pic>
        <p:nvPicPr>
          <p:cNvPr id="8" name="Image 6" descr="preencoded.png">    </p:cNvPr>
          <p:cNvPicPr>
            <a:picLocks noChangeAspect="1"/>
          </p:cNvPicPr>
          <p:nvPr/>
        </p:nvPicPr>
        <p:blipFill>
          <a:blip r:embed="rId7"/>
          <a:stretch>
            <a:fillRect/>
          </a:stretch>
        </p:blipFill>
        <p:spPr>
          <a:xfrm>
            <a:off x="7224713" y="2109788"/>
            <a:ext cx="1919288" cy="566738"/>
          </a:xfrm>
          <a:prstGeom prst="rect">
            <a:avLst/>
          </a:prstGeom>
        </p:spPr>
      </p:pic>
      <p:pic>
        <p:nvPicPr>
          <p:cNvPr id="9" name="Image 7" descr="preencoded.png">    </p:cNvPr>
          <p:cNvPicPr>
            <a:picLocks noChangeAspect="1"/>
          </p:cNvPicPr>
          <p:nvPr/>
        </p:nvPicPr>
        <p:blipFill>
          <a:blip r:embed="rId8"/>
          <a:stretch>
            <a:fillRect/>
          </a:stretch>
        </p:blipFill>
        <p:spPr>
          <a:xfrm>
            <a:off x="6365960" y="2400300"/>
            <a:ext cx="1614488" cy="1085850"/>
          </a:xfrm>
          <a:prstGeom prst="rect">
            <a:avLst/>
          </a:prstGeom>
        </p:spPr>
      </p:pic>
      <p:sp>
        <p:nvSpPr>
          <p:cNvPr id="10" name="Text 0"/>
          <p:cNvSpPr/>
          <p:nvPr/>
        </p:nvSpPr>
        <p:spPr>
          <a:xfrm>
            <a:off x="833438" y="1019175"/>
            <a:ext cx="80010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Yolo Segmentation</a:t>
            </a:r>
            <a:endParaRPr lang="en-US" sz="1800" dirty="0"/>
          </a:p>
        </p:txBody>
      </p:sp>
      <p:sp>
        <p:nvSpPr>
          <p:cNvPr id="11" name="Text 1"/>
          <p:cNvSpPr/>
          <p:nvPr/>
        </p:nvSpPr>
        <p:spPr>
          <a:xfrm>
            <a:off x="495300" y="347663"/>
            <a:ext cx="8110537" cy="547688"/>
          </a:xfrm>
          <a:prstGeom prst="rect">
            <a:avLst/>
          </a:prstGeom>
          <a:noFill/>
          <a:ln/>
        </p:spPr>
        <p:txBody>
          <a:bodyPr wrap="square" rtlCol="0" anchor="ctr"/>
          <a:lstStyle/>
          <a:p>
            <a:pPr algn="l"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Implementation</a:t>
            </a:r>
            <a:endParaRPr lang="en-US" sz="3600" dirty="0"/>
          </a:p>
        </p:txBody>
      </p:sp>
      <p:sp>
        <p:nvSpPr>
          <p:cNvPr id="12" name="Text 2"/>
          <p:cNvSpPr/>
          <p:nvPr/>
        </p:nvSpPr>
        <p:spPr>
          <a:xfrm>
            <a:off x="828675" y="3595688"/>
            <a:ext cx="8562975" cy="457200"/>
          </a:xfrm>
          <a:prstGeom prst="rect">
            <a:avLst/>
          </a:prstGeom>
          <a:noFill/>
          <a:ln/>
        </p:spPr>
        <p:txBody>
          <a:bodyPr wrap="square" rtlCol="0" anchor="ctr"/>
          <a:lstStyle/>
          <a:p>
            <a:pPr algn="l" marL="342900" indent="-342900">
              <a:lnSpc>
                <a:spcPts val="1782"/>
              </a:lnSpc>
              <a:buSzPct val="100000"/>
              <a:buFont typeface="+mj-lt"/>
              <a:buAutoNum type="arabicPeriod" startAt="1"/>
            </a:pPr>
            <a:r>
              <a:rPr lang="en-US" sz="1350" b="1" spc="-27" kern="0" dirty="0">
                <a:solidFill>
                  <a:srgbClr val="FFFFFF">
                    <a:alpha val="99000"/>
                  </a:srgbClr>
                </a:solidFill>
                <a:latin typeface="Inter" pitchFamily="34" charset="0"/>
                <a:ea typeface="Inter" pitchFamily="34" charset="-122"/>
                <a:cs typeface="Inter" pitchFamily="34" charset="-120"/>
              </a:rPr>
              <a:t>We apply a Super-Resolution technique as a preprocessing step to achieve better detection performance</a:t>
            </a:r>
            <a:endParaRPr lang="en-US" sz="1350" dirty="0"/>
          </a:p>
        </p:txBody>
      </p:sp>
      <p:sp>
        <p:nvSpPr>
          <p:cNvPr id="13" name="Text 3"/>
          <p:cNvSpPr/>
          <p:nvPr/>
        </p:nvSpPr>
        <p:spPr>
          <a:xfrm>
            <a:off x="828675" y="4176712"/>
            <a:ext cx="8562975" cy="685800"/>
          </a:xfrm>
          <a:prstGeom prst="rect">
            <a:avLst/>
          </a:prstGeom>
          <a:noFill/>
          <a:ln/>
        </p:spPr>
        <p:txBody>
          <a:bodyPr wrap="square" rtlCol="0" anchor="ctr"/>
          <a:lstStyle/>
          <a:p>
            <a:pPr algn="l" marL="342900" indent="-342900">
              <a:lnSpc>
                <a:spcPts val="1782"/>
              </a:lnSpc>
              <a:buSzPct val="100000"/>
              <a:buFont typeface="+mj-lt"/>
              <a:buAutoNum type="arabicPeriod" startAt="1"/>
            </a:pPr>
            <a:r>
              <a:rPr lang="en-US" sz="1350" b="1" spc="-27" kern="0" dirty="0">
                <a:solidFill>
                  <a:srgbClr val="FFFFFF">
                    <a:alpha val="99000"/>
                  </a:srgbClr>
                </a:solidFill>
                <a:latin typeface="Inter" pitchFamily="34" charset="0"/>
                <a:ea typeface="Inter" pitchFamily="34" charset="-122"/>
                <a:cs typeface="Inter" pitchFamily="34" charset="-120"/>
              </a:rPr>
              <a:t>We fine-tuned YOLO model using satellite images tiled at zoom level 18, creating segmentation labels and training with roughly 2,000 samples per class. After training, we applied the model to Daejeon satellite imagery and successfully extracted the target features.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00038" y="2486025"/>
            <a:ext cx="4081463" cy="2190750"/>
          </a:xfrm>
          <a:prstGeom prst="rect">
            <a:avLst/>
          </a:prstGeom>
        </p:spPr>
      </p:pic>
      <p:pic>
        <p:nvPicPr>
          <p:cNvPr id="3" name="Image 1" descr="preencoded.png">    </p:cNvPr>
          <p:cNvPicPr>
            <a:picLocks noChangeAspect="1"/>
          </p:cNvPicPr>
          <p:nvPr/>
        </p:nvPicPr>
        <p:blipFill>
          <a:blip r:embed="rId2"/>
          <a:stretch>
            <a:fillRect/>
          </a:stretch>
        </p:blipFill>
        <p:spPr>
          <a:xfrm>
            <a:off x="504825" y="1157288"/>
            <a:ext cx="6562725" cy="1057275"/>
          </a:xfrm>
          <a:prstGeom prst="rect">
            <a:avLst/>
          </a:prstGeom>
        </p:spPr>
      </p:pic>
      <p:pic>
        <p:nvPicPr>
          <p:cNvPr id="4" name="Image 2" descr="preencoded.png">    </p:cNvPr>
          <p:cNvPicPr>
            <a:picLocks noChangeAspect="1"/>
          </p:cNvPicPr>
          <p:nvPr/>
        </p:nvPicPr>
        <p:blipFill>
          <a:blip r:embed="rId3"/>
          <a:stretch>
            <a:fillRect/>
          </a:stretch>
        </p:blipFill>
        <p:spPr>
          <a:xfrm>
            <a:off x="6905625" y="685800"/>
            <a:ext cx="1995487" cy="1738313"/>
          </a:xfrm>
          <a:prstGeom prst="rect">
            <a:avLst/>
          </a:prstGeom>
        </p:spPr>
      </p:pic>
      <p:sp>
        <p:nvSpPr>
          <p:cNvPr id="5" name="Text 0"/>
          <p:cNvSpPr/>
          <p:nvPr/>
        </p:nvSpPr>
        <p:spPr>
          <a:xfrm>
            <a:off x="609600" y="609600"/>
            <a:ext cx="80010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DCT Transformation</a:t>
            </a:r>
            <a:endParaRPr lang="en-US" sz="1800" dirty="0"/>
          </a:p>
        </p:txBody>
      </p:sp>
      <p:sp>
        <p:nvSpPr>
          <p:cNvPr id="6" name="Text 1"/>
          <p:cNvSpPr/>
          <p:nvPr/>
        </p:nvSpPr>
        <p:spPr>
          <a:xfrm>
            <a:off x="4486275" y="2590800"/>
            <a:ext cx="4967288" cy="1371600"/>
          </a:xfrm>
          <a:prstGeom prst="rect">
            <a:avLst/>
          </a:prstGeom>
          <a:noFill/>
          <a:ln/>
        </p:spPr>
        <p:txBody>
          <a:bodyPr wrap="square" rtlCol="0" anchor="ctr"/>
          <a:lstStyle/>
          <a:p>
            <a:pPr algn="l" marL="342900" indent="-342900">
              <a:lnSpc>
                <a:spcPts val="1782"/>
              </a:lnSpc>
              <a:buSzPct val="100000"/>
              <a:buFont typeface="+mj-lt"/>
              <a:buAutoNum type="arabicPeriod" startAt="1"/>
            </a:pPr>
            <a:r>
              <a:rPr lang="en-US" sz="1350" b="1" spc="-27" kern="0" dirty="0">
                <a:solidFill>
                  <a:srgbClr val="FFFFFF">
                    <a:alpha val="99000"/>
                  </a:srgbClr>
                </a:solidFill>
                <a:latin typeface="Inter" pitchFamily="34" charset="0"/>
                <a:ea typeface="Inter" pitchFamily="34" charset="-122"/>
                <a:cs typeface="Inter" pitchFamily="34" charset="-120"/>
              </a:rPr>
              <a:t>We obtained elevation data from the  ‘공공데이터포털’,  but because it was low-resolution 90 m data, we applied a DCT-based transformation. To match the land-cover map’s coordinate system, we converted it to EPSG:3857 and then extracted the Daejeon region for further processing.</a:t>
            </a:r>
            <a:endParaRPr lang="en-US" sz="1350" dirty="0"/>
          </a:p>
        </p:txBody>
      </p:sp>
      <p:sp>
        <p:nvSpPr>
          <p:cNvPr id="7" name="Text 2"/>
          <p:cNvSpPr/>
          <p:nvPr/>
        </p:nvSpPr>
        <p:spPr>
          <a:xfrm>
            <a:off x="4652963" y="4167188"/>
            <a:ext cx="4957763" cy="300038"/>
          </a:xfrm>
          <a:prstGeom prst="rect">
            <a:avLst/>
          </a:prstGeom>
          <a:noFill/>
          <a:ln/>
        </p:spPr>
        <p:txBody>
          <a:bodyPr wrap="square" rtlCol="0" anchor="ctr"/>
          <a:lstStyle/>
          <a:p>
            <a:pPr algn="l" indent="0" marL="0">
              <a:lnSpc>
                <a:spcPts val="2378"/>
              </a:lnSpc>
              <a:buNone/>
            </a:pPr>
            <a:r>
              <a:rPr lang="en-US" sz="1801" b="1" spc="-36" kern="0" dirty="0">
                <a:solidFill>
                  <a:srgbClr val="FFFFFF">
                    <a:alpha val="99000"/>
                  </a:srgbClr>
                </a:solidFill>
                <a:latin typeface="Inter" pitchFamily="34" charset="0"/>
                <a:ea typeface="Inter" pitchFamily="34" charset="-122"/>
                <a:cs typeface="Inter" pitchFamily="34" charset="-120"/>
              </a:rPr>
              <a:t>공공데이터포털 </a:t>
            </a:r>
            <a:pPr algn="l" indent="0" marL="0">
              <a:lnSpc>
                <a:spcPts val="2378"/>
              </a:lnSpc>
              <a:buNone/>
            </a:pPr>
            <a:r>
              <a:rPr lang="en-US" sz="1801" b="1" spc="-36" kern="0" dirty="0">
                <a:solidFill>
                  <a:srgbClr val="0C8CE9">
                    <a:alpha val="99000"/>
                  </a:srgbClr>
                </a:solidFill>
                <a:latin typeface="Inter" pitchFamily="34" charset="0"/>
                <a:ea typeface="Inter" pitchFamily="34" charset="-122"/>
                <a:cs typeface="Inter" pitchFamily="34" charset="-120"/>
              </a:rPr>
              <a:t>(</a:t>
            </a:r>
            <a:pPr algn="l" indent="0" marL="0">
              <a:lnSpc>
                <a:spcPts val="2378"/>
              </a:lnSpc>
              <a:buNone/>
            </a:pPr>
            <a:r>
              <a:rPr lang="en-US" sz="1801" b="1" u="sng" spc="-36" kern="0" dirty="0">
                <a:solidFill>
                  <a:srgbClr val="0C8CE9">
                    <a:alpha val="99000"/>
                  </a:srgbClr>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https://www.data.go.kr/)</a:t>
            </a:r>
            <a:endParaRPr lang="en-US" sz="180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14350" y="514350"/>
            <a:ext cx="2386013" cy="466725"/>
          </a:xfrm>
          <a:prstGeom prst="rect">
            <a:avLst/>
          </a:prstGeom>
          <a:noFill/>
          <a:ln/>
        </p:spPr>
      </p:sp>
      <p:pic>
        <p:nvPicPr>
          <p:cNvPr id="3" name="Image 0" descr="preencoded.png">    </p:cNvPr>
          <p:cNvPicPr>
            <a:picLocks noChangeAspect="1"/>
          </p:cNvPicPr>
          <p:nvPr/>
        </p:nvPicPr>
        <p:blipFill>
          <a:blip r:embed="rId1"/>
          <a:stretch>
            <a:fillRect/>
          </a:stretch>
        </p:blipFill>
        <p:spPr>
          <a:xfrm>
            <a:off x="4067175" y="1438275"/>
            <a:ext cx="2076450" cy="1857375"/>
          </a:xfrm>
          <a:prstGeom prst="rect">
            <a:avLst/>
          </a:prstGeom>
        </p:spPr>
      </p:pic>
      <p:pic>
        <p:nvPicPr>
          <p:cNvPr id="4" name="Image 1" descr="preencoded.png">    </p:cNvPr>
          <p:cNvPicPr>
            <a:picLocks noChangeAspect="1"/>
          </p:cNvPicPr>
          <p:nvPr/>
        </p:nvPicPr>
        <p:blipFill>
          <a:blip r:embed="rId2"/>
          <a:stretch>
            <a:fillRect/>
          </a:stretch>
        </p:blipFill>
        <p:spPr>
          <a:xfrm>
            <a:off x="6234113" y="1533525"/>
            <a:ext cx="2728913" cy="1643063"/>
          </a:xfrm>
          <a:prstGeom prst="rect">
            <a:avLst/>
          </a:prstGeom>
        </p:spPr>
      </p:pic>
      <p:pic>
        <p:nvPicPr>
          <p:cNvPr id="5" name="Image 2" descr="preencoded.png">    </p:cNvPr>
          <p:cNvPicPr>
            <a:picLocks noChangeAspect="1"/>
          </p:cNvPicPr>
          <p:nvPr/>
        </p:nvPicPr>
        <p:blipFill>
          <a:blip r:embed="rId3"/>
          <a:stretch>
            <a:fillRect/>
          </a:stretch>
        </p:blipFill>
        <p:spPr>
          <a:xfrm>
            <a:off x="538163" y="1271588"/>
            <a:ext cx="1957388" cy="319088"/>
          </a:xfrm>
          <a:prstGeom prst="rect">
            <a:avLst/>
          </a:prstGeom>
        </p:spPr>
      </p:pic>
      <p:pic>
        <p:nvPicPr>
          <p:cNvPr id="6" name="Image 3" descr="preencoded.png">    </p:cNvPr>
          <p:cNvPicPr>
            <a:picLocks noChangeAspect="1"/>
          </p:cNvPicPr>
          <p:nvPr/>
        </p:nvPicPr>
        <p:blipFill>
          <a:blip r:embed="rId4"/>
          <a:stretch>
            <a:fillRect/>
          </a:stretch>
        </p:blipFill>
        <p:spPr>
          <a:xfrm>
            <a:off x="538163" y="1728788"/>
            <a:ext cx="1876425" cy="314325"/>
          </a:xfrm>
          <a:prstGeom prst="rect">
            <a:avLst/>
          </a:prstGeom>
        </p:spPr>
      </p:pic>
      <p:pic>
        <p:nvPicPr>
          <p:cNvPr id="7" name="Image 4" descr="preencoded.png">    </p:cNvPr>
          <p:cNvPicPr>
            <a:picLocks noChangeAspect="1"/>
          </p:cNvPicPr>
          <p:nvPr/>
        </p:nvPicPr>
        <p:blipFill>
          <a:blip r:embed="rId5"/>
          <a:stretch>
            <a:fillRect/>
          </a:stretch>
        </p:blipFill>
        <p:spPr>
          <a:xfrm>
            <a:off x="519113" y="2176463"/>
            <a:ext cx="1881187" cy="314325"/>
          </a:xfrm>
          <a:prstGeom prst="rect">
            <a:avLst/>
          </a:prstGeom>
        </p:spPr>
      </p:pic>
      <p:pic>
        <p:nvPicPr>
          <p:cNvPr id="8" name="Image 5" descr="preencoded.png">    </p:cNvPr>
          <p:cNvPicPr>
            <a:picLocks noChangeAspect="1"/>
          </p:cNvPicPr>
          <p:nvPr/>
        </p:nvPicPr>
        <p:blipFill>
          <a:blip r:embed="rId6"/>
          <a:stretch>
            <a:fillRect/>
          </a:stretch>
        </p:blipFill>
        <p:spPr>
          <a:xfrm>
            <a:off x="280988" y="2628900"/>
            <a:ext cx="1962150" cy="319088"/>
          </a:xfrm>
          <a:prstGeom prst="rect">
            <a:avLst/>
          </a:prstGeom>
        </p:spPr>
      </p:pic>
      <p:pic>
        <p:nvPicPr>
          <p:cNvPr id="9" name="Image 6" descr="preencoded.png">    </p:cNvPr>
          <p:cNvPicPr>
            <a:picLocks noChangeAspect="1"/>
          </p:cNvPicPr>
          <p:nvPr/>
        </p:nvPicPr>
        <p:blipFill>
          <a:blip r:embed="rId7"/>
          <a:stretch>
            <a:fillRect/>
          </a:stretch>
        </p:blipFill>
        <p:spPr>
          <a:xfrm>
            <a:off x="2400300" y="1271588"/>
            <a:ext cx="204788" cy="2095500"/>
          </a:xfrm>
          <a:prstGeom prst="rect">
            <a:avLst/>
          </a:prstGeom>
        </p:spPr>
      </p:pic>
      <p:pic>
        <p:nvPicPr>
          <p:cNvPr id="10" name="Image 7" descr="preencoded.png">    </p:cNvPr>
          <p:cNvPicPr>
            <a:picLocks noChangeAspect="1"/>
          </p:cNvPicPr>
          <p:nvPr/>
        </p:nvPicPr>
        <p:blipFill>
          <a:blip r:embed="rId8"/>
          <a:stretch>
            <a:fillRect/>
          </a:stretch>
        </p:blipFill>
        <p:spPr>
          <a:xfrm>
            <a:off x="2947988" y="2276475"/>
            <a:ext cx="909638" cy="419100"/>
          </a:xfrm>
          <a:prstGeom prst="rect">
            <a:avLst/>
          </a:prstGeom>
        </p:spPr>
      </p:pic>
      <p:pic>
        <p:nvPicPr>
          <p:cNvPr id="11" name="Image 8" descr="preencoded.png">    </p:cNvPr>
          <p:cNvPicPr>
            <a:picLocks noChangeAspect="1"/>
          </p:cNvPicPr>
          <p:nvPr/>
        </p:nvPicPr>
        <p:blipFill>
          <a:blip r:embed="rId9"/>
          <a:stretch>
            <a:fillRect/>
          </a:stretch>
        </p:blipFill>
        <p:spPr>
          <a:xfrm>
            <a:off x="2633663" y="1676400"/>
            <a:ext cx="1419225" cy="609600"/>
          </a:xfrm>
          <a:prstGeom prst="rect">
            <a:avLst/>
          </a:prstGeom>
        </p:spPr>
      </p:pic>
      <p:pic>
        <p:nvPicPr>
          <p:cNvPr id="12" name="Image 9" descr="preencoded.png">    </p:cNvPr>
          <p:cNvPicPr>
            <a:picLocks noChangeAspect="1"/>
          </p:cNvPicPr>
          <p:nvPr/>
        </p:nvPicPr>
        <p:blipFill>
          <a:blip r:embed="rId10"/>
          <a:stretch>
            <a:fillRect/>
          </a:stretch>
        </p:blipFill>
        <p:spPr>
          <a:xfrm>
            <a:off x="1081088" y="2128838"/>
            <a:ext cx="600889" cy="2313209"/>
          </a:xfrm>
          <a:prstGeom prst="rect">
            <a:avLst/>
          </a:prstGeom>
        </p:spPr>
      </p:pic>
      <p:pic>
        <p:nvPicPr>
          <p:cNvPr id="13" name="Image 10" descr="preencoded.png">    </p:cNvPr>
          <p:cNvPicPr>
            <a:picLocks noChangeAspect="1"/>
          </p:cNvPicPr>
          <p:nvPr/>
        </p:nvPicPr>
        <p:blipFill>
          <a:blip r:embed="rId11"/>
          <a:stretch>
            <a:fillRect/>
          </a:stretch>
        </p:blipFill>
        <p:spPr>
          <a:xfrm>
            <a:off x="561975" y="561975"/>
            <a:ext cx="2290763" cy="371475"/>
          </a:xfrm>
          <a:prstGeom prst="rect">
            <a:avLst/>
          </a:prstGeom>
        </p:spPr>
      </p:pic>
      <p:sp>
        <p:nvSpPr>
          <p:cNvPr id="14" name="Text 1"/>
          <p:cNvSpPr/>
          <p:nvPr/>
        </p:nvSpPr>
        <p:spPr>
          <a:xfrm>
            <a:off x="609600" y="609600"/>
            <a:ext cx="8001000" cy="276225"/>
          </a:xfrm>
          <a:prstGeom prst="rect">
            <a:avLst/>
          </a:prstGeom>
          <a:noFill/>
          <a:ln/>
        </p:spPr>
        <p:txBody>
          <a:bodyPr wrap="square" rtlCol="0" anchor="ctr"/>
          <a:lstStyle/>
          <a:p>
            <a:pPr algn="l" indent="0" marL="0">
              <a:lnSpc>
                <a:spcPts val="2160"/>
              </a:lnSpc>
              <a:buNone/>
            </a:pPr>
            <a:r>
              <a:rPr lang="en-US" sz="1800" b="1" spc="-36" kern="0" dirty="0">
                <a:solidFill>
                  <a:srgbClr val="FFFFFF">
                    <a:alpha val="99000"/>
                  </a:srgbClr>
                </a:solidFill>
                <a:latin typeface="Inter" pitchFamily="34" charset="0"/>
                <a:ea typeface="Inter" pitchFamily="34" charset="-122"/>
                <a:cs typeface="Inter" pitchFamily="34" charset="-120"/>
              </a:rPr>
              <a:t>Path Finder (A* Algorithm)</a:t>
            </a:r>
            <a:endParaRPr lang="en-US" sz="1800" dirty="0"/>
          </a:p>
        </p:txBody>
      </p:sp>
      <p:sp>
        <p:nvSpPr>
          <p:cNvPr id="15" name="Text 2"/>
          <p:cNvSpPr/>
          <p:nvPr/>
        </p:nvSpPr>
        <p:spPr>
          <a:xfrm>
            <a:off x="800100" y="3752850"/>
            <a:ext cx="8562975" cy="914400"/>
          </a:xfrm>
          <a:prstGeom prst="rect">
            <a:avLst/>
          </a:prstGeom>
          <a:noFill/>
          <a:ln/>
        </p:spPr>
        <p:txBody>
          <a:bodyPr wrap="square" rtlCol="0" anchor="ctr"/>
          <a:lstStyle/>
          <a:p>
            <a:pPr algn="l" marL="342900" indent="-342900">
              <a:lnSpc>
                <a:spcPts val="1782"/>
              </a:lnSpc>
              <a:buSzPct val="100000"/>
              <a:buFont typeface="+mj-lt"/>
              <a:buAutoNum type="arabicPeriod" startAt="1"/>
            </a:pPr>
            <a:r>
              <a:rPr lang="en-US" sz="1350" b="1" spc="-27" kern="0" dirty="0">
                <a:solidFill>
                  <a:srgbClr val="FFFFFF">
                    <a:alpha val="99000"/>
                  </a:srgbClr>
                </a:solidFill>
                <a:latin typeface="Inter" pitchFamily="34" charset="0"/>
                <a:ea typeface="Inter" pitchFamily="34" charset="-122"/>
                <a:cs typeface="Inter" pitchFamily="34" charset="-120"/>
              </a:rPr>
              <a:t>We manually customized the weight values of each layer according to how difficult it is for a person to access during an emergency. By combining these weights with the YOLO-segmentation-derived layers, we could utilize the A* algorithm to find the path that minimizes the integration of the weight.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95300" y="347663"/>
            <a:ext cx="8110537" cy="547688"/>
          </a:xfrm>
          <a:prstGeom prst="rect">
            <a:avLst/>
          </a:prstGeom>
          <a:noFill/>
          <a:ln/>
        </p:spPr>
        <p:txBody>
          <a:bodyPr wrap="square" rtlCol="0" anchor="ctr"/>
          <a:lstStyle/>
          <a:p>
            <a:pPr algn="l"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Conclusion</a:t>
            </a:r>
            <a:endParaRPr lang="en-US" sz="3600" dirty="0"/>
          </a:p>
        </p:txBody>
      </p:sp>
      <p:sp>
        <p:nvSpPr>
          <p:cNvPr id="3" name="Text 1"/>
          <p:cNvSpPr/>
          <p:nvPr/>
        </p:nvSpPr>
        <p:spPr>
          <a:xfrm>
            <a:off x="1066800" y="1314450"/>
            <a:ext cx="7734300" cy="2514600"/>
          </a:xfrm>
          <a:prstGeom prst="rect">
            <a:avLst/>
          </a:prstGeom>
          <a:noFill/>
          <a:ln/>
        </p:spPr>
        <p:txBody>
          <a:bodyPr wrap="square" rtlCol="0" anchor="ctr"/>
          <a:lstStyle/>
          <a:p>
            <a:pPr algn="l" marL="342900" indent="-342900">
              <a:lnSpc>
                <a:spcPts val="1809"/>
              </a:lnSpc>
              <a:buSzPct val="100000"/>
              <a:buChar char="•"/>
            </a:pPr>
            <a:r>
              <a:rPr lang="en-US" sz="1350" b="1" spc="-7" kern="0" dirty="0">
                <a:solidFill>
                  <a:srgbClr val="FFFFFF">
                    <a:alpha val="99000"/>
                  </a:srgbClr>
                </a:solidFill>
                <a:latin typeface="Inter" pitchFamily="34" charset="0"/>
                <a:ea typeface="Inter" pitchFamily="34" charset="-122"/>
                <a:cs typeface="Inter" pitchFamily="34" charset="-120"/>
              </a:rPr>
              <a:t>Using satellite imagery and DEM data, we developed a terrain-based optimal evacuation route system for military personnel and civilians in wartime.</a:t>
            </a:r>
            <a:endParaRPr lang="en-US" sz="1350" dirty="0"/>
          </a:p>
          <a:p>
            <a:pPr algn="l" marL="342900" indent="-342900">
              <a:lnSpc>
                <a:spcPts val="1809"/>
              </a:lnSpc>
              <a:buSzPct val="100000"/>
              <a:buChar char="•"/>
            </a:pPr>
            <a:r>
              <a:rPr lang="en-US" sz="1350" b="1" spc="-7" kern="0" dirty="0">
                <a:solidFill>
                  <a:srgbClr val="FFFFFF">
                    <a:alpha val="99000"/>
                  </a:srgbClr>
                </a:solidFill>
                <a:latin typeface="Inter" pitchFamily="34" charset="0"/>
                <a:ea typeface="Inter" pitchFamily="34" charset="-122"/>
                <a:cs typeface="Inter" pitchFamily="34" charset="-120"/>
              </a:rPr>
              <a:t>Unlike conventional shortest-distance methods, the system considers terrain, passability, risk, and time efficiency to generate realistic optimal routes.</a:t>
            </a:r>
            <a:endParaRPr lang="en-US" sz="1350" dirty="0"/>
          </a:p>
          <a:p>
            <a:pPr algn="l" marL="342900" indent="-342900">
              <a:lnSpc>
                <a:spcPts val="1809"/>
              </a:lnSpc>
              <a:buSzPct val="100000"/>
              <a:buChar char="•"/>
            </a:pPr>
            <a:r>
              <a:rPr lang="en-US" sz="1350" b="1" spc="-7" kern="0" dirty="0">
                <a:solidFill>
                  <a:srgbClr val="FFFFFF">
                    <a:alpha val="99000"/>
                  </a:srgbClr>
                </a:solidFill>
                <a:latin typeface="Inter" pitchFamily="34" charset="0"/>
                <a:ea typeface="Inter" pitchFamily="34" charset="-122"/>
                <a:cs typeface="Inter" pitchFamily="34" charset="-120"/>
              </a:rPr>
              <a:t>Shapefiles are extracted through object detection.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95300" y="347663"/>
            <a:ext cx="8110537" cy="547688"/>
          </a:xfrm>
          <a:prstGeom prst="rect">
            <a:avLst/>
          </a:prstGeom>
          <a:noFill/>
          <a:ln/>
        </p:spPr>
        <p:txBody>
          <a:bodyPr wrap="square" rtlCol="0" anchor="ctr"/>
          <a:lstStyle/>
          <a:p>
            <a:pPr algn="l" indent="0" marL="0">
              <a:lnSpc>
                <a:spcPts val="4320"/>
              </a:lnSpc>
              <a:buNone/>
            </a:pPr>
            <a:r>
              <a:rPr lang="en-US" sz="3600" b="1" spc="-72" kern="0" dirty="0">
                <a:solidFill>
                  <a:srgbClr val="FFFFFF">
                    <a:alpha val="99000"/>
                  </a:srgbClr>
                </a:solidFill>
                <a:latin typeface="Inter" pitchFamily="34" charset="0"/>
                <a:ea typeface="Inter" pitchFamily="34" charset="-122"/>
                <a:cs typeface="Inter" pitchFamily="34" charset="-120"/>
              </a:rPr>
              <a:t>Expected effect</a:t>
            </a:r>
            <a:endParaRPr lang="en-US" sz="3600" dirty="0"/>
          </a:p>
        </p:txBody>
      </p:sp>
      <p:sp>
        <p:nvSpPr>
          <p:cNvPr id="3" name="Text 1"/>
          <p:cNvSpPr/>
          <p:nvPr/>
        </p:nvSpPr>
        <p:spPr>
          <a:xfrm>
            <a:off x="1066800" y="1314450"/>
            <a:ext cx="7734300" cy="2971800"/>
          </a:xfrm>
          <a:prstGeom prst="rect">
            <a:avLst/>
          </a:prstGeom>
          <a:noFill/>
          <a:ln/>
        </p:spPr>
        <p:txBody>
          <a:bodyPr wrap="square" rtlCol="0" anchor="ctr"/>
          <a:lstStyle/>
          <a:p>
            <a:pPr algn="l" marL="342900" indent="-342900">
              <a:lnSpc>
                <a:spcPts val="1809"/>
              </a:lnSpc>
              <a:buSzPct val="100000"/>
              <a:buFont typeface="+mj-lt"/>
              <a:buAutoNum type="arabicPeriod" startAt="1"/>
            </a:pPr>
            <a:r>
              <a:rPr lang="en-US" sz="1350" b="1" spc="-7" kern="0" dirty="0">
                <a:solidFill>
                  <a:srgbClr val="FFFFFF">
                    <a:alpha val="99000"/>
                  </a:srgbClr>
                </a:solidFill>
                <a:latin typeface="Inter" pitchFamily="34" charset="0"/>
                <a:ea typeface="Inter" pitchFamily="34" charset="-122"/>
                <a:cs typeface="Inter" pitchFamily="34" charset="-120"/>
              </a:rPr>
              <a:t>Enhanced military operations and troop protection</a:t>
            </a:r>
            <a:endParaRPr lang="en-US" sz="1350" dirty="0"/>
          </a:p>
          <a:p>
            <a:pPr algn="l" marL="342900" indent="-342900">
              <a:lnSpc>
                <a:spcPts val="1809"/>
              </a:lnSpc>
              <a:buSzPct val="100000"/>
              <a:buFont typeface="+mj-lt"/>
              <a:buAutoNum type="arabicPeriod" startAt="1"/>
            </a:pPr>
            <a:r>
              <a:rPr lang="en-US" sz="1350" b="1" spc="-7" kern="0" dirty="0">
                <a:solidFill>
                  <a:srgbClr val="FFFFFF">
                    <a:alpha val="99000"/>
                  </a:srgbClr>
                </a:solidFill>
                <a:latin typeface="Inter" pitchFamily="34" charset="0"/>
                <a:ea typeface="Inter" pitchFamily="34" charset="-122"/>
                <a:cs typeface="Inter" pitchFamily="34" charset="-120"/>
              </a:rPr>
              <a:t>Improved civilian evacuation and humanitarian assistance</a:t>
            </a:r>
            <a:endParaRPr lang="en-US" sz="1350" dirty="0"/>
          </a:p>
          <a:p>
            <a:pPr algn="l" marL="342900" indent="-342900">
              <a:lnSpc>
                <a:spcPts val="1809"/>
              </a:lnSpc>
              <a:buSzPct val="100000"/>
              <a:buFont typeface="+mj-lt"/>
              <a:buAutoNum type="arabicPeriod" startAt="1"/>
            </a:pPr>
            <a:r>
              <a:rPr lang="en-US" sz="1350" b="1" spc="-7" kern="0" dirty="0">
                <a:solidFill>
                  <a:srgbClr val="FFFFFF">
                    <a:alpha val="99000"/>
                  </a:srgbClr>
                </a:solidFill>
                <a:latin typeface="Inter" pitchFamily="34" charset="0"/>
                <a:ea typeface="Inter" pitchFamily="34" charset="-122"/>
                <a:cs typeface="Inter" pitchFamily="34" charset="-120"/>
              </a:rPr>
              <a:t>Expansion of a smart route system based on battlefield situational awareness</a:t>
            </a:r>
            <a:endParaRPr lang="en-US" sz="1350" dirty="0"/>
          </a:p>
          <a:p>
            <a:pPr algn="l" marL="342900" indent="-342900">
              <a:lnSpc>
                <a:spcPts val="1809"/>
              </a:lnSpc>
              <a:buSzPct val="100000"/>
              <a:buFont typeface="+mj-lt"/>
              <a:buAutoNum type="arabicPeriod" startAt="1"/>
            </a:pPr>
            <a:r>
              <a:rPr lang="en-US" sz="1350" b="1" spc="-7" kern="0" dirty="0">
                <a:solidFill>
                  <a:srgbClr val="FFFFFF">
                    <a:alpha val="99000"/>
                  </a:srgbClr>
                </a:solidFill>
                <a:latin typeface="Inter" pitchFamily="34" charset="0"/>
                <a:ea typeface="Inter" pitchFamily="34" charset="-122"/>
                <a:cs typeface="Inter" pitchFamily="34" charset="-120"/>
              </a:rPr>
              <a:t>Automated information updating at national and battlefield scales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2171700" y="2000250"/>
            <a:ext cx="5253038" cy="1143000"/>
          </a:xfrm>
          <a:prstGeom prst="rect">
            <a:avLst/>
          </a:prstGeom>
          <a:noFill/>
          <a:ln/>
        </p:spPr>
        <p:txBody>
          <a:bodyPr wrap="square" rtlCol="0" anchor="ctr"/>
          <a:lstStyle/>
          <a:p>
            <a:pPr algn="ctr" indent="0" marL="0">
              <a:lnSpc>
                <a:spcPts val="9000"/>
              </a:lnSpc>
              <a:buNone/>
            </a:pPr>
            <a:r>
              <a:rPr lang="en-US" sz="7500" b="1" spc="-150" kern="0" dirty="0">
                <a:solidFill>
                  <a:srgbClr val="FFFFFF">
                    <a:alpha val="99000"/>
                  </a:srgbClr>
                </a:solidFill>
                <a:latin typeface="Inter" pitchFamily="34" charset="0"/>
                <a:ea typeface="Inter" pitchFamily="34" charset="-122"/>
                <a:cs typeface="Inter" pitchFamily="34" charset="-120"/>
              </a:rPr>
              <a:t>Thank you</a:t>
            </a:r>
            <a:endParaRPr lang="en-US" sz="7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2025-12-07T12:09:56Z</dcterms:created>
  <dcterms:modified xsi:type="dcterms:W3CDTF">2025-12-07T12:09:56Z</dcterms:modified>
</cp:coreProperties>
</file>